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9" r:id="rId2"/>
  </p:sldMasterIdLst>
  <p:sldIdLst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1C2D"/>
    <a:srgbClr val="EA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BAAEEA-5E97-44D5-BFF2-E12561313723}" v="187" dt="2026-06-04T21:10:34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min ‎ ‏‏‎‎ ‏‏‎‎ ‏‏‎‎ ‏‏‎‎ ‏‏‎‎ ‏‏‎‎ ‏‏‎‎ ‏‏‎‎ ‏‏‎‎ ‏‏‎‎" userId="91622a5ccb7707a5" providerId="LiveId" clId="{02DA2DFE-87C5-4428-9BA0-1164F142F344}"/>
    <pc:docChg chg="undo custSel addSld delSld modSld">
      <pc:chgData name="Admin ‎ ‏‏‎‎ ‏‏‎‎ ‏‏‎‎ ‏‏‎‎ ‏‏‎‎ ‏‏‎‎ ‏‏‎‎ ‏‏‎‎ ‏‏‎‎ ‏‏‎‎" userId="91622a5ccb7707a5" providerId="LiveId" clId="{02DA2DFE-87C5-4428-9BA0-1164F142F344}" dt="2026-06-08T06:00:16.958" v="298" actId="1440"/>
      <pc:docMkLst>
        <pc:docMk/>
      </pc:docMkLst>
      <pc:sldChg chg="modSp mod">
        <pc:chgData name="Admin ‎ ‏‏‎‎ ‏‏‎‎ ‏‏‎‎ ‏‏‎‎ ‏‏‎‎ ‏‏‎‎ ‏‏‎‎ ‏‏‎‎ ‏‏‎‎ ‏‏‎‎" userId="91622a5ccb7707a5" providerId="LiveId" clId="{02DA2DFE-87C5-4428-9BA0-1164F142F344}" dt="2026-06-07T14:55:16.641" v="270" actId="20577"/>
        <pc:sldMkLst>
          <pc:docMk/>
          <pc:sldMk cId="4109646474" sldId="260"/>
        </pc:sldMkLst>
        <pc:sp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7T14:55:16.641" v="270" actId="20577"/>
          <ac:spMkLst>
            <pc:docMk/>
            <pc:sldMk cId="4109646474" sldId="260"/>
            <ac:spMk id="8" creationId="{9862156F-6304-A87C-D524-050196D251F0}"/>
          </ac:spMkLst>
        </pc:spChg>
      </pc:sldChg>
      <pc:sldChg chg="addSp modSp mod">
        <pc:chgData name="Admin ‎ ‏‏‎‎ ‏‏‎‎ ‏‏‎‎ ‏‏‎‎ ‏‏‎‎ ‏‏‎‎ ‏‏‎‎ ‏‏‎‎ ‏‏‎‎ ‏‏‎‎" userId="91622a5ccb7707a5" providerId="LiveId" clId="{02DA2DFE-87C5-4428-9BA0-1164F142F344}" dt="2026-06-08T06:00:16.958" v="298" actId="1440"/>
        <pc:sldMkLst>
          <pc:docMk/>
          <pc:sldMk cId="170694257" sldId="261"/>
        </pc:sldMkLst>
        <pc:picChg chg="add 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8T06:00:12.719" v="297" actId="1440"/>
          <ac:picMkLst>
            <pc:docMk/>
            <pc:sldMk cId="170694257" sldId="261"/>
            <ac:picMk id="5" creationId="{1A23D5C2-2752-51F4-1F26-B297F1EE2FEF}"/>
          </ac:picMkLst>
        </pc:picChg>
        <pc:picChg chg="add 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8T06:00:00.411" v="296" actId="1440"/>
          <ac:picMkLst>
            <pc:docMk/>
            <pc:sldMk cId="170694257" sldId="261"/>
            <ac:picMk id="7" creationId="{19FCBB57-EF4A-7746-997D-FA5622EA0A8D}"/>
          </ac:picMkLst>
        </pc:picChg>
        <pc:picChg chg="add 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8T06:00:16.958" v="298" actId="1440"/>
          <ac:picMkLst>
            <pc:docMk/>
            <pc:sldMk cId="170694257" sldId="261"/>
            <ac:picMk id="9" creationId="{4718F591-4881-1CE2-6267-30D6632FD389}"/>
          </ac:picMkLst>
        </pc:picChg>
      </pc:sldChg>
      <pc:sldChg chg="modSp mod">
        <pc:chgData name="Admin ‎ ‏‏‎‎ ‏‏‎‎ ‏‏‎‎ ‏‏‎‎ ‏‏‎‎ ‏‏‎‎ ‏‏‎‎ ‏‏‎‎ ‏‏‎‎ ‏‏‎‎" userId="91622a5ccb7707a5" providerId="LiveId" clId="{02DA2DFE-87C5-4428-9BA0-1164F142F344}" dt="2026-06-04T20:57:39.668" v="237" actId="14826"/>
        <pc:sldMkLst>
          <pc:docMk/>
          <pc:sldMk cId="930288622" sldId="262"/>
        </pc:sldMkLst>
        <pc:picChg chg="mod modCrop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0:10.051" v="231" actId="18131"/>
          <ac:picMkLst>
            <pc:docMk/>
            <pc:sldMk cId="930288622" sldId="262"/>
            <ac:picMk id="19" creationId="{EAB5B889-E5F0-989A-1C32-E6C8170B5201}"/>
          </ac:picMkLst>
        </pc:picChg>
        <pc:pic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26.402" v="235" actId="14826"/>
          <ac:picMkLst>
            <pc:docMk/>
            <pc:sldMk cId="930288622" sldId="262"/>
            <ac:picMk id="33" creationId="{9CE0BB67-FF38-D88B-48B9-D75338DEDFA3}"/>
          </ac:picMkLst>
        </pc:picChg>
        <pc:pic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32.081" v="236" actId="14826"/>
          <ac:picMkLst>
            <pc:docMk/>
            <pc:sldMk cId="930288622" sldId="262"/>
            <ac:picMk id="34" creationId="{60F7EF7D-727C-95AC-26F9-C1F434348F9B}"/>
          </ac:picMkLst>
        </pc:picChg>
        <pc:pic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39.668" v="237" actId="14826"/>
          <ac:picMkLst>
            <pc:docMk/>
            <pc:sldMk cId="930288622" sldId="262"/>
            <ac:picMk id="35" creationId="{E1592114-C933-F650-0007-729175C1957D}"/>
          </ac:picMkLst>
        </pc:picChg>
      </pc:sldChg>
      <pc:sldChg chg="addSp delSp modSp add del mod">
        <pc:chgData name="Admin ‎ ‏‏‎‎ ‏‏‎‎ ‏‏‎‎ ‏‏‎‎ ‏‏‎‎ ‏‏‎‎ ‏‏‎‎ ‏‏‎‎ ‏‏‎‎ ‏‏‎‎" userId="91622a5ccb7707a5" providerId="LiveId" clId="{02DA2DFE-87C5-4428-9BA0-1164F142F344}" dt="2026-06-04T21:10:34.254" v="255" actId="14826"/>
        <pc:sldMkLst>
          <pc:docMk/>
          <pc:sldMk cId="3512026239" sldId="263"/>
        </pc:sldMkLst>
        <pc:sp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26:07.158" v="20" actId="20577"/>
          <ac:spMkLst>
            <pc:docMk/>
            <pc:sldMk cId="3512026239" sldId="263"/>
            <ac:spMk id="20" creationId="{4CDD5855-6E07-C4BC-A6C4-A63FCF621935}"/>
          </ac:spMkLst>
        </pc:spChg>
        <pc:sp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47:28.120" v="219" actId="1076"/>
          <ac:spMkLst>
            <pc:docMk/>
            <pc:sldMk cId="3512026239" sldId="263"/>
            <ac:spMk id="27" creationId="{4FBF9B44-FC3C-9F3F-EDB2-C265C88C8031}"/>
          </ac:spMkLst>
        </pc:spChg>
        <pc:picChg chg="add 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09.845" v="232" actId="14826"/>
          <ac:picMkLst>
            <pc:docMk/>
            <pc:sldMk cId="3512026239" sldId="263"/>
            <ac:picMk id="3" creationId="{5FBC30E4-0B12-5317-EB2C-995015A1C487}"/>
          </ac:picMkLst>
        </pc:picChg>
        <pc:picChg chg="mod modCrop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1:10:34.254" v="255" actId="14826"/>
          <ac:picMkLst>
            <pc:docMk/>
            <pc:sldMk cId="3512026239" sldId="263"/>
            <ac:picMk id="19" creationId="{EAB5B889-E5F0-989A-1C32-E6C8170B5201}"/>
          </ac:picMkLst>
        </pc:picChg>
        <pc:pic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14.877" v="233" actId="14826"/>
          <ac:picMkLst>
            <pc:docMk/>
            <pc:sldMk cId="3512026239" sldId="263"/>
            <ac:picMk id="34" creationId="{60F7EF7D-727C-95AC-26F9-C1F434348F9B}"/>
          </ac:picMkLst>
        </pc:picChg>
        <pc:picChg chg="mod">
          <ac:chgData name="Admin ‎ ‏‏‎‎ ‏‏‎‎ ‏‏‎‎ ‏‏‎‎ ‏‏‎‎ ‏‏‎‎ ‏‏‎‎ ‏‏‎‎ ‏‏‎‎ ‏‏‎‎" userId="91622a5ccb7707a5" providerId="LiveId" clId="{02DA2DFE-87C5-4428-9BA0-1164F142F344}" dt="2026-06-04T20:57:18.953" v="234" actId="14826"/>
          <ac:picMkLst>
            <pc:docMk/>
            <pc:sldMk cId="3512026239" sldId="263"/>
            <ac:picMk id="35" creationId="{E1592114-C933-F650-0007-729175C195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B2855-E176-596D-5519-4D6CDFD0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ABB37-847E-9F9F-07F4-A07BFBF7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B6B96-DFAD-8C9C-5F19-A57BAC05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7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099" y="629392"/>
            <a:ext cx="3581401" cy="2799608"/>
          </a:xfrm>
        </p:spPr>
        <p:txBody>
          <a:bodyPr lIns="91440" anchor="t"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1255" y="1068311"/>
            <a:ext cx="5951145" cy="507849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9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EAFD4-E50F-295A-D7A1-83970B18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D01AA-7390-4426-75B8-45D202F1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50DD9-A59D-E8B9-12E3-93BE322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E3E41-3F19-D504-3DD1-ED864EC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3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5281"/>
            <a:ext cx="6400800" cy="319024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6540" y="5181601"/>
            <a:ext cx="6400800" cy="695960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05B87-0B1C-464B-928F-AA5E9D282D7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CB9B453-B113-191E-39AE-5F46524E58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1082043"/>
            <a:ext cx="1391920" cy="467195"/>
          </a:xfrm>
        </p:spPr>
        <p:txBody>
          <a:bodyPr anchor="ctr"/>
          <a:lstStyle>
            <a:lvl1pPr marL="120648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7483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3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9" r:id="rId2"/>
    <p:sldLayoutId id="2147483668" r:id="rId3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592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88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20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60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9100" y="629392"/>
            <a:ext cx="11353800" cy="62790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100" y="1485900"/>
            <a:ext cx="11353800" cy="4660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1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05B87-0B1C-464B-928F-AA5E9D282D70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29100" y="6400801"/>
            <a:ext cx="37338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5300" y="6400801"/>
            <a:ext cx="3657600" cy="3206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5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28635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5824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543012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01789" indent="-285744" algn="l" defTabSz="914354" rtl="0" eaLnBrk="1" latinLnBrk="0" hangingPunct="1">
        <a:lnSpc>
          <a:spcPct val="150000"/>
        </a:lnSpc>
        <a:spcBef>
          <a:spcPts val="12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F26B43"/>
          </p15:clr>
        </p15:guide>
        <p15:guide id="2" pos="264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7416">
          <p15:clr>
            <a:srgbClr val="F26B43"/>
          </p15:clr>
        </p15:guide>
        <p15:guide id="5" pos="3840">
          <p15:clr>
            <a:srgbClr val="F26B43"/>
          </p15:clr>
        </p15:guide>
        <p15:guide id="6" pos="2616">
          <p15:clr>
            <a:srgbClr val="F26B43"/>
          </p15:clr>
        </p15:guide>
        <p15:guide id="7" orient="horz" pos="2160">
          <p15:clr>
            <a:srgbClr val="F26B43"/>
          </p15:clr>
        </p15:guide>
        <p15:guide id="9" pos="5064">
          <p15:clr>
            <a:srgbClr val="F26B43"/>
          </p15:clr>
        </p15:guide>
        <p15:guide id="10" orient="horz" pos="144">
          <p15:clr>
            <a:srgbClr val="F26B43"/>
          </p15:clr>
        </p15:guide>
        <p15:guide id="11" pos="7536">
          <p15:clr>
            <a:srgbClr val="F26B43"/>
          </p15:clr>
        </p15:guide>
        <p15:guide id="12" orient="horz" pos="4176">
          <p15:clr>
            <a:srgbClr val="F26B43"/>
          </p15:clr>
        </p15:guide>
        <p15:guide id="13" pos="144">
          <p15:clr>
            <a:srgbClr val="F26B43"/>
          </p15:clr>
        </p15:guide>
        <p15:guide id="14" pos="3888">
          <p15:clr>
            <a:srgbClr val="F26B43"/>
          </p15:clr>
        </p15:guide>
        <p15:guide id="15" pos="3792">
          <p15:clr>
            <a:srgbClr val="F26B43"/>
          </p15:clr>
        </p15:guide>
        <p15:guide id="16" pos="2568">
          <p15:clr>
            <a:srgbClr val="F26B43"/>
          </p15:clr>
        </p15:guide>
        <p15:guide id="17" pos="2664">
          <p15:clr>
            <a:srgbClr val="F26B43"/>
          </p15:clr>
        </p15:guide>
        <p15:guide id="18" pos="5016">
          <p15:clr>
            <a:srgbClr val="F26B43"/>
          </p15:clr>
        </p15:guide>
        <p15:guide id="19" pos="5112">
          <p15:clr>
            <a:srgbClr val="F26B43"/>
          </p15:clr>
        </p15:guide>
        <p15:guide id="20" orient="horz" pos="792">
          <p15:clr>
            <a:srgbClr val="F26B43"/>
          </p15:clr>
        </p15:guide>
        <p15:guide id="21" orient="horz" pos="936">
          <p15:clr>
            <a:srgbClr val="F26B43"/>
          </p15:clr>
        </p15:guide>
        <p15:guide id="22" pos="3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10" Type="http://schemas.openxmlformats.org/officeDocument/2006/relationships/image" Target="../media/image3.png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4.png"/><Relationship Id="rId3" Type="http://schemas.openxmlformats.org/officeDocument/2006/relationships/tags" Target="../tags/tag16.xml"/><Relationship Id="rId21" Type="http://schemas.openxmlformats.org/officeDocument/2006/relationships/image" Target="../media/image7.svg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image" Target="../media/image6.sv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5.sv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image" Target="../media/image11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image" Target="../media/image10.png"/><Relationship Id="rId2" Type="http://schemas.openxmlformats.org/officeDocument/2006/relationships/tags" Target="../tags/tag31.xml"/><Relationship Id="rId16" Type="http://schemas.openxmlformats.org/officeDocument/2006/relationships/image" Target="../media/image9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image" Target="../media/image4.png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image" Target="../media/image15.png"/><Relationship Id="rId2" Type="http://schemas.openxmlformats.org/officeDocument/2006/relationships/tags" Target="../tags/tag44.xml"/><Relationship Id="rId16" Type="http://schemas.openxmlformats.org/officeDocument/2006/relationships/image" Target="../media/image14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13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image" Target="../media/image18.jpg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17.jp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16.png"/><Relationship Id="rId5" Type="http://schemas.openxmlformats.org/officeDocument/2006/relationships/tags" Target="../tags/tag6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E124-D334-7962-D080-4695418A9EC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19100" y="896981"/>
            <a:ext cx="5600700" cy="3046369"/>
          </a:xfrm>
        </p:spPr>
        <p:txBody>
          <a:bodyPr lIns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dirty="0"/>
              <a:t>StudyBot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0F976-02A3-7F7A-1643-1F2BBA987641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19100" y="6151881"/>
            <a:ext cx="5600700" cy="477519"/>
          </a:xfrm>
        </p:spPr>
        <p:txBody>
          <a:bodyPr lIns="0">
            <a:normAutofit/>
          </a:bodyPr>
          <a:lstStyle/>
          <a:p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78C8CE94-2CFD-E8CD-2F66-2A57B1AC3B0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9" t="982" r="10913"/>
          <a:stretch>
            <a:fillRect/>
          </a:stretch>
        </p:blipFill>
        <p:spPr>
          <a:xfrm>
            <a:off x="5971541" y="292100"/>
            <a:ext cx="5791200" cy="6400800"/>
          </a:xfrm>
          <a:prstGeom prst="roundRect">
            <a:avLst>
              <a:gd name="adj" fmla="val 933"/>
            </a:avLst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E80BB6F-2E6F-16EA-72DB-9809F2EADD6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19100" y="3943350"/>
            <a:ext cx="5600700" cy="9144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178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ctr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ctr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1800" b="0" i="0" u="none" dirty="0">
                <a:solidFill>
                  <a:schemeClr val="tx2"/>
                </a:solidFill>
              </a:rPr>
              <a:t>Telegram-бот, который превращает лекции в конспекты и тесты с помощью ИИ</a:t>
            </a:r>
          </a:p>
        </p:txBody>
      </p:sp>
      <p:sp>
        <p:nvSpPr>
          <p:cNvPr id="8" name="Text Box 1"/>
          <p:cNvSpPr txBox="1"/>
          <p:nvPr/>
        </p:nvSpPr>
        <p:spPr>
          <a:xfrm>
            <a:off x="419100" y="5054600"/>
            <a:ext cx="5600700" cy="228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</a:pPr>
            <a:r>
              <a:rPr lang="en-US" sz="1200" b="1" i="0" u="none" cap="all" spc="150">
                <a:solidFill>
                  <a:srgbClr val="818198"/>
                </a:solidFill>
                <a:latin typeface="Aptos"/>
              </a:rPr>
              <a:t>Команда</a:t>
            </a:r>
          </a:p>
        </p:txBody>
      </p:sp>
      <p:sp>
        <p:nvSpPr>
          <p:cNvPr id="9" name="Text Box 2"/>
          <p:cNvSpPr txBox="1"/>
          <p:nvPr/>
        </p:nvSpPr>
        <p:spPr>
          <a:xfrm>
            <a:off x="419100" y="5334000"/>
            <a:ext cx="1905000" cy="508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</a:pPr>
            <a:r>
              <a:rPr lang="en-US" sz="1200" b="1" i="0" u="none" dirty="0">
                <a:solidFill>
                  <a:srgbClr val="201C20"/>
                </a:solidFill>
                <a:latin typeface="Aptos"/>
              </a:rPr>
              <a:t>PM (Project Manager)</a:t>
            </a:r>
          </a:p>
          <a:p>
            <a:pPr>
              <a:buNone/>
            </a:pPr>
            <a:r>
              <a:rPr lang="ru-RU" sz="1200" b="0" i="0" u="none" dirty="0" err="1">
                <a:solidFill>
                  <a:srgbClr val="818198"/>
                </a:solidFill>
                <a:latin typeface="Aptos"/>
              </a:rPr>
              <a:t>Сартаев</a:t>
            </a:r>
            <a:r>
              <a:rPr lang="ru-RU" sz="1200" b="0" i="0" u="none" dirty="0">
                <a:solidFill>
                  <a:srgbClr val="818198"/>
                </a:solidFill>
                <a:latin typeface="Aptos"/>
              </a:rPr>
              <a:t> </a:t>
            </a:r>
            <a:r>
              <a:rPr lang="ru-RU" sz="1200" b="0" i="0" u="none" dirty="0" err="1">
                <a:solidFill>
                  <a:srgbClr val="818198"/>
                </a:solidFill>
                <a:latin typeface="Aptos"/>
              </a:rPr>
              <a:t>Бейбарыс</a:t>
            </a:r>
            <a:endParaRPr lang="en-US" sz="1200" b="0" i="0" u="none" dirty="0">
              <a:solidFill>
                <a:srgbClr val="818198"/>
              </a:solidFill>
              <a:latin typeface="Aptos"/>
            </a:endParaRPr>
          </a:p>
        </p:txBody>
      </p:sp>
      <p:sp>
        <p:nvSpPr>
          <p:cNvPr id="10" name="Text Box 3"/>
          <p:cNvSpPr txBox="1"/>
          <p:nvPr/>
        </p:nvSpPr>
        <p:spPr>
          <a:xfrm>
            <a:off x="2324100" y="5333999"/>
            <a:ext cx="1651000" cy="62701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</a:pPr>
            <a:r>
              <a:rPr lang="en-US" sz="1200" b="1" i="0" u="none" dirty="0" err="1">
                <a:solidFill>
                  <a:srgbClr val="201C20"/>
                </a:solidFill>
                <a:latin typeface="Aptos"/>
              </a:rPr>
              <a:t>Разработчик</a:t>
            </a:r>
            <a:r>
              <a:rPr lang="ru-RU" sz="1200" b="1" i="0" u="none" dirty="0">
                <a:solidFill>
                  <a:srgbClr val="201C20"/>
                </a:solidFill>
                <a:latin typeface="Aptos"/>
              </a:rPr>
              <a:t>и</a:t>
            </a:r>
            <a:endParaRPr lang="en-US" sz="1200" b="1" i="0" u="none" dirty="0">
              <a:solidFill>
                <a:srgbClr val="201C20"/>
              </a:solidFill>
              <a:latin typeface="Aptos"/>
            </a:endParaRPr>
          </a:p>
          <a:p>
            <a:pPr>
              <a:buNone/>
            </a:pPr>
            <a:r>
              <a:rPr lang="ru-RU" sz="1200" b="0" i="0" u="none" dirty="0" err="1">
                <a:solidFill>
                  <a:srgbClr val="818198"/>
                </a:solidFill>
                <a:latin typeface="Aptos"/>
              </a:rPr>
              <a:t>Садуа</a:t>
            </a:r>
            <a:r>
              <a:rPr lang="kk-KZ" sz="1200" b="0" i="0" u="none" dirty="0">
                <a:solidFill>
                  <a:srgbClr val="818198"/>
                </a:solidFill>
                <a:latin typeface="Aptos"/>
              </a:rPr>
              <a:t>қас Алмат</a:t>
            </a:r>
          </a:p>
          <a:p>
            <a:pPr>
              <a:buNone/>
            </a:pPr>
            <a:r>
              <a:rPr lang="kk-KZ" sz="1200" dirty="0">
                <a:solidFill>
                  <a:srgbClr val="818198"/>
                </a:solidFill>
                <a:latin typeface="Aptos"/>
              </a:rPr>
              <a:t>Сұңғатолла Ерасыл</a:t>
            </a:r>
            <a:endParaRPr lang="en-US" sz="1200" b="0" i="0" u="none" dirty="0">
              <a:solidFill>
                <a:srgbClr val="818198"/>
              </a:solidFill>
              <a:latin typeface="Aptos"/>
            </a:endParaRPr>
          </a:p>
        </p:txBody>
      </p:sp>
      <p:sp>
        <p:nvSpPr>
          <p:cNvPr id="11" name="Text Box 4"/>
          <p:cNvSpPr txBox="1"/>
          <p:nvPr/>
        </p:nvSpPr>
        <p:spPr>
          <a:xfrm>
            <a:off x="3975100" y="5334000"/>
            <a:ext cx="1651000" cy="508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buNone/>
            </a:pPr>
            <a:r>
              <a:rPr lang="en-US" sz="1200" b="1" i="0" u="none" dirty="0" err="1">
                <a:solidFill>
                  <a:srgbClr val="201C20"/>
                </a:solidFill>
                <a:latin typeface="Aptos"/>
              </a:rPr>
              <a:t>Тестировщик</a:t>
            </a:r>
            <a:endParaRPr lang="en-US" sz="1200" b="1" i="0" u="none" dirty="0">
              <a:solidFill>
                <a:srgbClr val="201C20"/>
              </a:solidFill>
              <a:latin typeface="Aptos"/>
            </a:endParaRPr>
          </a:p>
          <a:p>
            <a:pPr>
              <a:buNone/>
            </a:pPr>
            <a:r>
              <a:rPr lang="kk-KZ" sz="1200" dirty="0">
                <a:solidFill>
                  <a:srgbClr val="818198"/>
                </a:solidFill>
                <a:latin typeface="Aptos"/>
              </a:rPr>
              <a:t>Шарабок Елизавета</a:t>
            </a:r>
            <a:endParaRPr lang="en-US" sz="1200" b="0" i="0" u="none" dirty="0">
              <a:solidFill>
                <a:srgbClr val="818198"/>
              </a:solidFill>
              <a:latin typeface="Apto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54EEE2-898C-B42B-7A6F-2C8314EFFA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381" b="-4283"/>
          <a:stretch>
            <a:fillRect/>
          </a:stretch>
        </p:blipFill>
        <p:spPr>
          <a:xfrm>
            <a:off x="419100" y="259349"/>
            <a:ext cx="1391920" cy="12752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729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D6C5-9081-073D-F90C-7C94C8D5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6A689F-7031-B43E-F52F-2F933A81CEC2}"/>
              </a:ext>
            </a:extLst>
          </p:cNvPr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419100" y="629392"/>
            <a:ext cx="11353800" cy="622300"/>
          </a:xfrm>
        </p:spPr>
        <p:txBody>
          <a:bodyPr lIns="0"/>
          <a:lstStyle/>
          <a:p>
            <a:pPr>
              <a:buNone/>
            </a:pPr>
            <a:r>
              <a:rPr lang="en-US" b="1" i="0" u="none" noProof="1"/>
              <a:t>Проблема и целевая аудитория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5D83A3-1ABF-0939-EA16-85898E82FCD6}"/>
              </a:ext>
            </a:extLst>
          </p:cNvPr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4229100" y="1489075"/>
            <a:ext cx="3657600" cy="640080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i="0" u="none" noProof="1">
                <a:solidFill>
                  <a:srgbClr val="911C2D"/>
                </a:solidFill>
                <a:latin typeface="+mj-lt"/>
              </a:rPr>
              <a:t>Проблема и 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30BAE-4D47-D00D-D2EE-BD6B0B2167AC}"/>
              </a:ext>
            </a:extLst>
          </p:cNvPr>
          <p:cNvSpPr>
            <a:spLocks noGrp="1"/>
          </p:cNvSpPr>
          <p:nvPr>
            <p:ph sz="half" idx="4294967295"/>
            <p:custDataLst>
              <p:tags r:id="rId3"/>
            </p:custDataLst>
          </p:nvPr>
        </p:nvSpPr>
        <p:spPr>
          <a:xfrm>
            <a:off x="4229100" y="2120957"/>
            <a:ext cx="3657600" cy="4279843"/>
          </a:xfrm>
        </p:spPr>
        <p:txBody>
          <a:bodyPr vert="horz" lIns="0" tIns="45720" rIns="91440" bIns="4572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1400" b="0" i="0" u="none" noProof="1"/>
              <a:t>Студенты тратят слишком много времени на конспектирование лекций вручную и подготовку к тестам.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Учебные материалы разрознены и неупорядочены, что затрудняет эффективную учёбу.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Отсутствуют действенные инструменты для самопроверки.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StudyBot AI автоматически создаёт конспекты и тесты напрямую из текстов лекций.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Экономит время и повышает эффективность обучения благодаря помощи ИИ.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875E0D-4282-A9F5-1083-9765F2430CD7}"/>
              </a:ext>
            </a:extLst>
          </p:cNvPr>
          <p:cNvSpPr>
            <a:spLocks noGrp="1"/>
          </p:cNvSpPr>
          <p:nvPr>
            <p:ph type="body" sz="quarter" idx="4294967295"/>
            <p:custDataLst>
              <p:tags r:id="rId4"/>
            </p:custDataLst>
          </p:nvPr>
        </p:nvSpPr>
        <p:spPr>
          <a:xfrm>
            <a:off x="8191500" y="1485900"/>
            <a:ext cx="3657600" cy="640080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i="0" u="none" noProof="1">
                <a:solidFill>
                  <a:srgbClr val="911C2D"/>
                </a:solidFill>
                <a:latin typeface="+mj-lt"/>
              </a:rPr>
              <a:t>Целевая аудитория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107F32-DDCC-52AC-0ECE-79825114A90E}"/>
              </a:ext>
            </a:extLst>
          </p:cNvPr>
          <p:cNvSpPr>
            <a:spLocks noGrp="1"/>
          </p:cNvSpPr>
          <p:nvPr>
            <p:ph sz="quarter" idx="4294967295"/>
            <p:custDataLst>
              <p:tags r:id="rId5"/>
            </p:custDataLst>
          </p:nvPr>
        </p:nvSpPr>
        <p:spPr>
          <a:xfrm>
            <a:off x="8191499" y="2120900"/>
            <a:ext cx="3657600" cy="4281583"/>
          </a:xfrm>
        </p:spPr>
        <p:txBody>
          <a:bodyPr vert="horz" lIns="0" tIns="45720" rIns="91440" bIns="4572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1400" b="0" i="0" u="none" noProof="1"/>
              <a:t>Студенты вузов и колледжей, которым нужно быстро усваивать материал и проверять свои знания.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Преподаватели, которым требуется быстрая подготовка тестов и учебных материалов.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Учащиеся, стремящиеся лучше подготовиться к экзаменам с мгновенной обратной связью.</a:t>
            </a:r>
          </a:p>
          <a:p>
            <a:pPr>
              <a:lnSpc>
                <a:spcPct val="114000"/>
              </a:lnSpc>
            </a:pPr>
            <a:r>
              <a:rPr lang="en-US" sz="1400" b="0" i="0" u="none" noProof="1"/>
              <a:t>Педагоги, заинтересованные в удобном управлении контентом и генерации тестов.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9C717E-1B69-3B21-AB27-470E8C899D4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BB2A3-159E-9146-0F9D-D2785597580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noProof="1">
                <a:solidFill>
                  <a:schemeClr val="tx2"/>
                </a:solidFill>
              </a:rPr>
              <a:t>Обзор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705D249-C61F-DF49-57B9-36AE031DCB2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0"/>
          <a:srcRect l="11799" r="11799"/>
          <a:stretch>
            <a:fillRect/>
          </a:stretch>
        </p:blipFill>
        <p:spPr>
          <a:xfrm>
            <a:off x="419100" y="1485899"/>
            <a:ext cx="3580398" cy="4686301"/>
          </a:xfrm>
          <a:prstGeom prst="roundRect">
            <a:avLst>
              <a:gd name="adj" fmla="val 2476"/>
            </a:avLst>
          </a:prstGeom>
        </p:spPr>
      </p:pic>
    </p:spTree>
    <p:extLst>
      <p:ext uri="{BB962C8B-B14F-4D97-AF65-F5344CB8AC3E}">
        <p14:creationId xmlns:p14="http://schemas.microsoft.com/office/powerpoint/2010/main" val="206205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8">
            <a:extLst>
              <a:ext uri="{FF2B5EF4-FFF2-40B4-BE49-F238E27FC236}">
                <a16:creationId xmlns:a16="http://schemas.microsoft.com/office/drawing/2014/main" id="{EAB5B889-E5F0-989A-1C32-E6C8170B52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7" t="2242" r="2271" b="386"/>
          <a:stretch>
            <a:fillRect/>
          </a:stretch>
        </p:blipFill>
        <p:spPr>
          <a:xfrm>
            <a:off x="8077200" y="228600"/>
            <a:ext cx="3771900" cy="6400800"/>
          </a:xfrm>
          <a:prstGeom prst="roundRect">
            <a:avLst>
              <a:gd name="adj" fmla="val 2476"/>
            </a:avLst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9100" y="629392"/>
            <a:ext cx="7543800" cy="627908"/>
          </a:xfrm>
        </p:spPr>
        <p:txBody>
          <a:bodyPr lIns="0">
            <a:normAutofit/>
          </a:bodyPr>
          <a:lstStyle/>
          <a:p>
            <a:pPr>
              <a:buNone/>
            </a:pPr>
            <a:r>
              <a:rPr lang="en-US" b="1" i="0" u="none" dirty="0"/>
              <a:t>Решение и функции (MVP)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20DC3D-BD57-B5AC-E97C-D53EBE8ECF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dirty="0">
                <a:solidFill>
                  <a:schemeClr val="tx2"/>
                </a:solidFill>
              </a:rPr>
              <a:t>Функции MVP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439CB-0A3E-AAE0-B6AA-8D47E914B1C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DD5855-6E07-C4BC-A6C4-A63FCF621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667000" y="1485900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Автоматическое создание кратких конспектов лекций и тестовых вопросов из текста лекции с помощью Groq API в связке с моделью Llama 3.3 70B для точного и релевантного извлечения содержания.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561B811E-A997-C84D-B2F5-A0D41C96B21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667000" y="2691405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Пользователи могут проходить тесты прямо в мессенджере Telegram, получая мгновенную проверку ответов и обратную связь по результатам для эффективной самооценки в любое время.</a:t>
            </a:r>
          </a:p>
        </p:txBody>
      </p:sp>
      <p:sp>
        <p:nvSpPr>
          <p:cNvPr id="27" name="Content Placeholder 11">
            <a:extLst>
              <a:ext uri="{FF2B5EF4-FFF2-40B4-BE49-F238E27FC236}">
                <a16:creationId xmlns:a16="http://schemas.microsoft.com/office/drawing/2014/main" id="{4FBF9B44-FC3C-9F3F-EDB2-C265C88C803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667000" y="3896910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Упорядоченные конспекты лекций и учебные материалы, сгруппированные по предметам, доступны прямо через бота для поддержки структурированного обучения.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F27E492-913A-141C-154D-D5D054CC87B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901700" y="148590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Конспекты и тесты на основе ИИ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3980DC2C-8A13-388F-2974-2162583EA17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901700" y="2691405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Тесты прямо в Telegram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FFAA6CE3-773D-6FAB-9F76-C40BC1CE09A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01700" y="389691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Учебные материалы по предметам</a:t>
            </a:r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67A72263-3CBC-BF66-1B64-706F05EEBB2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2667000" y="5102416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Удобный веб-интерфейс на Flask позволяет управлять предметами, вопросами и процессами генерации тестов с помощью ИИ, упрощая обновление контента и управление ботом.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3BBF853A-2B5A-C8D6-13CC-B2297AEBA17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01700" y="5102416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Панель администратора (Flask)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9CE0BB67-FF38-D88B-48B9-D75338DEDFA3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9100" y="1532282"/>
            <a:ext cx="320040" cy="32004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0F7EF7D-727C-95AC-26F9-C1F434348F9B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19100" y="2733370"/>
            <a:ext cx="320040" cy="32004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592114-C933-F650-0007-729175C1957D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9100" y="3934458"/>
            <a:ext cx="320040" cy="32004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08B9EF8-9476-AE01-C087-58A1BF19323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19100" y="5135546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7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8">
            <a:extLst>
              <a:ext uri="{FF2B5EF4-FFF2-40B4-BE49-F238E27FC236}">
                <a16:creationId xmlns:a16="http://schemas.microsoft.com/office/drawing/2014/main" id="{EAB5B889-E5F0-989A-1C32-E6C8170B52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9" r="51718"/>
          <a:stretch>
            <a:fillRect/>
          </a:stretch>
        </p:blipFill>
        <p:spPr>
          <a:xfrm>
            <a:off x="8077200" y="228600"/>
            <a:ext cx="3771900" cy="6400800"/>
          </a:xfrm>
          <a:prstGeom prst="roundRect">
            <a:avLst>
              <a:gd name="adj" fmla="val 2476"/>
            </a:avLst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9100" y="629392"/>
            <a:ext cx="7543800" cy="627908"/>
          </a:xfrm>
        </p:spPr>
        <p:txBody>
          <a:bodyPr lIns="0">
            <a:normAutofit/>
          </a:bodyPr>
          <a:lstStyle/>
          <a:p>
            <a:pPr>
              <a:buNone/>
            </a:pPr>
            <a:r>
              <a:rPr lang="en-US" b="1" i="0" u="none" dirty="0"/>
              <a:t>Разработчики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20DC3D-BD57-B5AC-E97C-D53EBE8ECF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dirty="0">
                <a:solidFill>
                  <a:schemeClr val="tx2"/>
                </a:solidFill>
              </a:rPr>
              <a:t>Команда разработки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439CB-0A3E-AAE0-B6AA-8D47E914B1C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DD5855-6E07-C4BC-A6C4-A63FCF621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667000" y="1485900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Бэкенд и логика Telegram-бота: интеграция Groq API с моделью Llama 3.3 70B, обработка команд и генерация конспектов. Реализовал более 40 обработчиков сообщений.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561B811E-A997-C84D-B2F5-A0D41C96B21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667000" y="2691405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Панель администратора на Flask и база данных: управление предметами, вопросами и пользователями. Спроектировал схему БД из 8 таблиц и REST-эндпоинты.</a:t>
            </a:r>
          </a:p>
        </p:txBody>
      </p:sp>
      <p:sp>
        <p:nvSpPr>
          <p:cNvPr id="27" name="Content Placeholder 11">
            <a:extLst>
              <a:ext uri="{FF2B5EF4-FFF2-40B4-BE49-F238E27FC236}">
                <a16:creationId xmlns:a16="http://schemas.microsoft.com/office/drawing/2014/main" id="{4FBF9B44-FC3C-9F3F-EDB2-C265C88C803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667000" y="3896910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Совместная работа: система прохождения тестов в Telegram, подсчёт результатов и обратная связь. Развёртывание проекта на сервере и настройка CI/CD.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F27E492-913A-141C-154D-D5D054CC87B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901700" y="148590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Бэкенд и логика</a:t>
            </a:r>
            <a:endParaRPr kumimoji="0" lang="en-US" sz="16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Aptos Display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3980DC2C-8A13-388F-2974-2162583EA17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901700" y="2691405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База данных</a:t>
            </a:r>
            <a:endParaRPr kumimoji="0" lang="en-US" sz="16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Aptos Display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FFAA6CE3-773D-6FAB-9F76-C40BC1CE09A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01700" y="389691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Модуль тестирования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9CE0BB67-FF38-D88B-48B9-D75338DEDFA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1532282"/>
            <a:ext cx="320040" cy="32004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0F7EF7D-727C-95AC-26F9-C1F434348F9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2733370"/>
            <a:ext cx="320040" cy="32004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592114-C933-F650-0007-729175C1957D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3934458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8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8">
            <a:extLst>
              <a:ext uri="{FF2B5EF4-FFF2-40B4-BE49-F238E27FC236}">
                <a16:creationId xmlns:a16="http://schemas.microsoft.com/office/drawing/2014/main" id="{EAB5B889-E5F0-989A-1C32-E6C8170B520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7" r="34537"/>
          <a:stretch/>
        </p:blipFill>
        <p:spPr>
          <a:xfrm>
            <a:off x="8077200" y="228600"/>
            <a:ext cx="3771900" cy="6400800"/>
          </a:xfrm>
          <a:prstGeom prst="roundRect">
            <a:avLst>
              <a:gd name="adj" fmla="val 2476"/>
            </a:avLst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BB4C0C7-DEBB-7AD1-4AC6-84AB17EED7E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9100" y="629392"/>
            <a:ext cx="7543800" cy="627908"/>
          </a:xfrm>
        </p:spPr>
        <p:txBody>
          <a:bodyPr lIns="0">
            <a:normAutofit/>
          </a:bodyPr>
          <a:lstStyle/>
          <a:p>
            <a:pPr>
              <a:buNone/>
            </a:pPr>
            <a:r>
              <a:rPr lang="en-US" b="1" i="0" u="none" dirty="0"/>
              <a:t>Тестировщик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20DC3D-BD57-B5AC-E97C-D53EBE8ECF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dirty="0">
                <a:solidFill>
                  <a:schemeClr val="tx2"/>
                </a:solidFill>
              </a:rPr>
              <a:t>Контроль качества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9439CB-0A3E-AAE0-B6AA-8D47E914B1C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DD5855-6E07-C4BC-A6C4-A63FCF621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667000" y="1485900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Функциональное тестирование Telegram-бота: проверка команд, генерации конспектов и тестов. Проведено более </a:t>
            </a:r>
            <a:r>
              <a:rPr lang="ru-RU" sz="1400" noProof="1"/>
              <a:t>50</a:t>
            </a: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тест-кейсов, выявлено </a:t>
            </a:r>
            <a:r>
              <a:rPr kumimoji="0" lang="ru-RU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16</a:t>
            </a: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баг</a:t>
            </a:r>
            <a:r>
              <a:rPr kumimoji="0" lang="ru-RU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ов</a:t>
            </a: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9</a:t>
            </a: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из которых исправлен.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561B811E-A997-C84D-B2F5-A0D41C96B21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667000" y="2691405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Проверка веб-панели на Flask: управление предметами и вопросами, корректность форм и валидация данных. Обнаружено 12 ошибок интерфейса и логики.</a:t>
            </a:r>
          </a:p>
        </p:txBody>
      </p:sp>
      <p:sp>
        <p:nvSpPr>
          <p:cNvPr id="27" name="Content Placeholder 11">
            <a:extLst>
              <a:ext uri="{FF2B5EF4-FFF2-40B4-BE49-F238E27FC236}">
                <a16:creationId xmlns:a16="http://schemas.microsoft.com/office/drawing/2014/main" id="{4FBF9B44-FC3C-9F3F-EDB2-C265C88C803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667000" y="3826502"/>
            <a:ext cx="5301342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1113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354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Оценка точности конспектов и тестовых вопросов от Llama 3.3 70B на 50 лекциях. Релевантность ответов составила 92% после доработки промптов.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F27E492-913A-141C-154D-D5D054CC87B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901700" y="148590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Тестирование </a:t>
            </a: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Telegram</a:t>
            </a:r>
            <a:r>
              <a:rPr kumimoji="0" lang="ru-RU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-бота</a:t>
            </a:r>
            <a:endParaRPr kumimoji="0" lang="en-US" sz="16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Aptos Display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3980DC2C-8A13-388F-2974-2162583EA17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901700" y="2691405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Тестирование админ-панели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FFAA6CE3-773D-6FAB-9F76-C40BC1CE09A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01700" y="3896910"/>
            <a:ext cx="1651000" cy="1135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Franklin Gothic Medium" panose="020B0603020102020204" pitchFamily="34" charset="0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1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n-ea"/>
                <a:cs typeface="Arial" panose="020B0604020202020204" pitchFamily="34" charset="0"/>
              </a:rPr>
              <a:t>Качество ИИ-ответов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0F7EF7D-727C-95AC-26F9-C1F434348F9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2733370"/>
            <a:ext cx="320040" cy="32004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592114-C933-F650-0007-729175C1957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3934458"/>
            <a:ext cx="320040" cy="3200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BC30E4-0B12-5317-EB2C-995015A1C48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100" y="1544498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2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BD59-F160-5E15-FE4D-8C2AA9D9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5854DD-6186-E267-0A29-13EBCA268C55}"/>
              </a:ext>
            </a:extLst>
          </p:cNvPr>
          <p:cNvSpPr/>
          <p:nvPr/>
        </p:nvSpPr>
        <p:spPr>
          <a:xfrm>
            <a:off x="9170185" y="228600"/>
            <a:ext cx="2793216" cy="6426200"/>
          </a:xfrm>
          <a:prstGeom prst="roundRect">
            <a:avLst>
              <a:gd name="adj" fmla="val 319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C4D522-97D4-8FD1-2C3D-87E6CF38B60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9100" y="629392"/>
            <a:ext cx="8560585" cy="627908"/>
          </a:xfrm>
        </p:spPr>
        <p:txBody>
          <a:bodyPr lIns="0">
            <a:normAutofit/>
          </a:bodyPr>
          <a:lstStyle/>
          <a:p>
            <a:r>
              <a:rPr lang="en-US" dirty="0"/>
              <a:t>Технологический стек и архитектура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4105E0-402A-455F-0A20-B9E4FF763667}"/>
              </a:ext>
            </a:extLst>
          </p:cNvPr>
          <p:cNvSpPr>
            <a:spLocks noGrp="1"/>
          </p:cNvSpPr>
          <p:nvPr>
            <p:ph type="body" sz="quarter" idx="4294967295"/>
            <p:custDataLst>
              <p:tags r:id="rId2"/>
            </p:custDataLst>
          </p:nvPr>
        </p:nvSpPr>
        <p:spPr>
          <a:xfrm>
            <a:off x="9274626" y="629393"/>
            <a:ext cx="2688771" cy="627908"/>
          </a:xfrm>
        </p:spPr>
        <p:txBody>
          <a:bodyPr vert="horz" lIns="91440" tIns="45720" rIns="137160" bIns="45720" rtlCol="0" anchor="ctr">
            <a:noAutofit/>
          </a:bodyPr>
          <a:lstStyle/>
          <a:p>
            <a:pPr marL="11111" indent="0">
              <a:lnSpc>
                <a:spcPct val="100000"/>
              </a:lnSpc>
              <a:buNone/>
            </a:pPr>
            <a:r>
              <a:rPr lang="en-US" b="1" i="0" u="none" dirty="0">
                <a:latin typeface="+mj-lt"/>
              </a:rPr>
              <a:t>Архитектура и поток данных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62156F-6304-A87C-D524-050196D251F0}"/>
              </a:ext>
            </a:extLst>
          </p:cNvPr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9274628" y="1257300"/>
            <a:ext cx="2688771" cy="5143500"/>
          </a:xfrm>
        </p:spPr>
        <p:txBody>
          <a:bodyPr vert="horz" lIns="0" tIns="45720" rIns="137160" bIns="45720" rtlCol="0" anchor="t">
            <a:normAutofit lnSpcReduction="10000"/>
          </a:bodyPr>
          <a:lstStyle/>
          <a:p>
            <a:pPr>
              <a:lnSpc>
                <a:spcPct val="114000"/>
              </a:lnSpc>
            </a:pPr>
            <a:r>
              <a:rPr lang="en-US" sz="1400" b="0" i="0" u="none" dirty="0"/>
              <a:t>Пользователь в Telegram → </a:t>
            </a:r>
            <a:r>
              <a:rPr lang="en-US" sz="1400" b="1" i="0" u="none" dirty="0"/>
              <a:t>bot.py</a:t>
            </a:r>
            <a:r>
              <a:rPr lang="en-US" sz="1400" b="0" i="0" u="none" dirty="0"/>
              <a:t> (aiogram): навигация, выдача тестов, проверка ответов.</a:t>
            </a:r>
          </a:p>
          <a:p>
            <a:pPr>
              <a:lnSpc>
                <a:spcPct val="114000"/>
              </a:lnSpc>
            </a:pPr>
            <a:r>
              <a:rPr lang="en-US" sz="1400" b="1" i="0" u="none" dirty="0"/>
              <a:t>database.py</a:t>
            </a:r>
            <a:r>
              <a:rPr lang="en-US" sz="1400" b="0" i="0" u="none" dirty="0"/>
              <a:t> (SQLite) хранит предметы, конспекты, вопросы, тесты, пользователей и результаты.</a:t>
            </a:r>
          </a:p>
          <a:p>
            <a:pPr>
              <a:lnSpc>
                <a:spcPct val="114000"/>
              </a:lnSpc>
            </a:pPr>
            <a:r>
              <a:rPr lang="en-US" sz="1400" b="1" i="0" u="none" dirty="0"/>
              <a:t>admin.py</a:t>
            </a:r>
            <a:r>
              <a:rPr lang="en-US" sz="1400" b="0" i="0" u="none" dirty="0"/>
              <a:t> (Flask) — управление предметами, вопросами и запуск AI-генерации.</a:t>
            </a:r>
          </a:p>
          <a:p>
            <a:pPr>
              <a:lnSpc>
                <a:spcPct val="114000"/>
              </a:lnSpc>
            </a:pPr>
            <a:r>
              <a:rPr lang="en-US" sz="1400" b="1" i="0" u="none" dirty="0"/>
              <a:t>ai_client.py</a:t>
            </a:r>
            <a:r>
              <a:rPr lang="en-US" sz="1400" b="0" i="0" u="none" dirty="0"/>
              <a:t> (Groq, Llama 3.3 70B): текст лекции → промпт → JSON → конспект + вопросы.</a:t>
            </a:r>
          </a:p>
          <a:p>
            <a:pPr marL="407988" indent="-284163">
              <a:lnSpc>
                <a:spcPct val="114000"/>
              </a:lnSpc>
              <a:buNone/>
            </a:pPr>
            <a:r>
              <a:rPr lang="en-US" sz="1400" b="1" i="0" u="none" dirty="0"/>
              <a:t>Тестирование:</a:t>
            </a:r>
            <a:r>
              <a:rPr lang="en-US" sz="1400" b="0" i="0" u="none" dirty="0"/>
              <a:t> </a:t>
            </a:r>
            <a:r>
              <a:rPr lang="en-US" sz="1400" b="0" i="0" u="none" dirty="0" err="1"/>
              <a:t>проведено</a:t>
            </a:r>
            <a:r>
              <a:rPr lang="en-US" sz="1400" b="0" i="0" u="none" dirty="0"/>
              <a:t> </a:t>
            </a:r>
            <a:r>
              <a:rPr lang="ru-RU" sz="1400" dirty="0"/>
              <a:t>52</a:t>
            </a:r>
            <a:r>
              <a:rPr lang="en-US" sz="1400" b="0" i="0" u="none" dirty="0"/>
              <a:t> тестов, найдено и </a:t>
            </a:r>
            <a:r>
              <a:rPr lang="en-US" sz="1400" b="0" i="0" u="none" dirty="0" err="1"/>
              <a:t>исправлено</a:t>
            </a:r>
            <a:r>
              <a:rPr lang="en-US" sz="1400" b="0" i="0" u="none" dirty="0"/>
              <a:t> </a:t>
            </a:r>
            <a:r>
              <a:rPr lang="ru-RU" sz="1400" b="0" i="0" u="none" dirty="0"/>
              <a:t>9</a:t>
            </a:r>
            <a:r>
              <a:rPr lang="en-US" sz="1400" b="0" i="0" u="none" dirty="0"/>
              <a:t> багов.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516FD-9020-2D01-0480-D440BD8410A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987F-6B67-F7F0-90E4-7ABBC1EA0C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noProof="1">
                <a:solidFill>
                  <a:schemeClr val="tx2"/>
                </a:solidFill>
              </a:rPr>
              <a:t>Архитектура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F2E17E-4BD7-ED68-EE3B-7359E207241D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5759784"/>
              </p:ext>
            </p:extLst>
          </p:nvPr>
        </p:nvGraphicFramePr>
        <p:xfrm>
          <a:off x="419099" y="1257300"/>
          <a:ext cx="8560586" cy="3832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08">
                  <a:extLst>
                    <a:ext uri="{9D8B030D-6E8A-4147-A177-3AD203B41FA5}">
                      <a16:colId xmlns:a16="http://schemas.microsoft.com/office/drawing/2014/main" val="3567433880"/>
                    </a:ext>
                  </a:extLst>
                </a:gridCol>
                <a:gridCol w="2564626">
                  <a:extLst>
                    <a:ext uri="{9D8B030D-6E8A-4147-A177-3AD203B41FA5}">
                      <a16:colId xmlns:a16="http://schemas.microsoft.com/office/drawing/2014/main" val="4212919215"/>
                    </a:ext>
                  </a:extLst>
                </a:gridCol>
                <a:gridCol w="2564626">
                  <a:extLst>
                    <a:ext uri="{9D8B030D-6E8A-4147-A177-3AD203B41FA5}">
                      <a16:colId xmlns:a16="http://schemas.microsoft.com/office/drawing/2014/main" val="4189385376"/>
                    </a:ext>
                  </a:extLst>
                </a:gridCol>
                <a:gridCol w="2564626">
                  <a:extLst>
                    <a:ext uri="{9D8B030D-6E8A-4147-A177-3AD203B41FA5}">
                      <a16:colId xmlns:a16="http://schemas.microsoft.com/office/drawing/2014/main" val="1776435683"/>
                    </a:ext>
                  </a:extLst>
                </a:gridCol>
              </a:tblGrid>
              <a:tr h="4142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100" b="1" i="0" u="none" dirty="0">
                          <a:solidFill>
                            <a:srgbClr val="911C2D"/>
                          </a:solidFill>
                          <a:effectLst/>
                          <a:latin typeface="+mn-lt"/>
                        </a:rPr>
                        <a:t>Слой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911C2D"/>
                          </a:solidFill>
                          <a:effectLst/>
                          <a:latin typeface="+mn-lt"/>
                        </a:rPr>
                        <a:t>Технология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911C2D"/>
                          </a:solidFill>
                          <a:effectLst/>
                          <a:latin typeface="+mn-lt"/>
                        </a:rPr>
                        <a:t>Версия</a:t>
                      </a:r>
                    </a:p>
                  </a:txBody>
                  <a:tcPr marL="47625" marR="47625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911C2D"/>
                          </a:solidFill>
                          <a:effectLst/>
                          <a:latin typeface="+mn-lt"/>
                        </a:rPr>
                        <a:t>Назначение</a:t>
                      </a:r>
                    </a:p>
                  </a:txBody>
                  <a:tcPr marL="47625" marR="47625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583402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Telegram-бот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Python + aiogram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3.13 (async)</a:t>
                      </a:r>
                    </a:p>
                  </a:txBody>
                  <a:tcPr marL="47625" marR="47625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Асинхронный бот, навигация, выдача тестов</a:t>
                      </a:r>
                    </a:p>
                  </a:txBody>
                  <a:tcPr marL="47625" marR="47625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6247658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Админ-панель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Python + Flask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3.0</a:t>
                      </a:r>
                    </a:p>
                  </a:txBody>
                  <a:tcPr marL="47625" marR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Веб-интерфейс управления контентом</a:t>
                      </a:r>
                    </a:p>
                  </a:txBody>
                  <a:tcPr marL="47625" marR="47625" anchor="ctr"/>
                </a:tc>
                <a:extLst>
                  <a:ext uri="{0D108BD9-81ED-4DB2-BD59-A6C34878D82A}">
                    <a16:rowId xmlns:a16="http://schemas.microsoft.com/office/drawing/2014/main" val="1047882240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AI-генерация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Groq API → Llama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3.3 70B</a:t>
                      </a:r>
                    </a:p>
                  </a:txBody>
                  <a:tcPr marL="47625" marR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Генерация конспектов и вопросов из лекции</a:t>
                      </a:r>
                    </a:p>
                  </a:txBody>
                  <a:tcPr marL="47625" marR="47625" anchor="ctr"/>
                </a:tc>
                <a:extLst>
                  <a:ext uri="{0D108BD9-81ED-4DB2-BD59-A6C34878D82A}">
                    <a16:rowId xmlns:a16="http://schemas.microsoft.com/office/drawing/2014/main" val="2910240991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База данных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SQLite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47625" marR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Предметы, конспекты, вопросы, тесты, пользователи, результаты</a:t>
                      </a:r>
                    </a:p>
                  </a:txBody>
                  <a:tcPr marL="47625" marR="47625" anchor="ctr"/>
                </a:tc>
                <a:extLst>
                  <a:ext uri="{0D108BD9-81ED-4DB2-BD59-A6C34878D82A}">
                    <a16:rowId xmlns:a16="http://schemas.microsoft.com/office/drawing/2014/main" val="4257262992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Фронтенд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HTML + CSS + JS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dirty="0"/>
                        <a:t>—</a:t>
                      </a:r>
                    </a:p>
                  </a:txBody>
                  <a:tcPr marL="47625" marR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Интерфейс админки, тёмная / светлая тема</a:t>
                      </a:r>
                    </a:p>
                  </a:txBody>
                  <a:tcPr marL="47625" marR="47625" anchor="ctr"/>
                </a:tc>
                <a:extLst>
                  <a:ext uri="{0D108BD9-81ED-4DB2-BD59-A6C34878D82A}">
                    <a16:rowId xmlns:a16="http://schemas.microsoft.com/office/drawing/2014/main" val="3804446804"/>
                  </a:ext>
                </a:extLst>
              </a:tr>
              <a:tr h="569629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HTTP к API</a:t>
                      </a:r>
                    </a:p>
                  </a:txBody>
                  <a:tcPr marL="47625" marR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urllib</a:t>
                      </a:r>
                    </a:p>
                  </a:txBody>
                  <a:tcPr marL="47625" marR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dirty="0"/>
                        <a:t>stdlib</a:t>
                      </a:r>
                    </a:p>
                  </a:txBody>
                  <a:tcPr marL="47625" marR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Запросы к API без внешних зависимостей</a:t>
                      </a:r>
                    </a:p>
                  </a:txBody>
                  <a:tcPr marL="47625" marR="47625" anchor="ctr"/>
                </a:tc>
                <a:extLst>
                  <a:ext uri="{0D108BD9-81ED-4DB2-BD59-A6C34878D82A}">
                    <a16:rowId xmlns:a16="http://schemas.microsoft.com/office/drawing/2014/main" val="1763106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64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81C0D32-96FD-D632-A332-FA1AE3702A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9100" y="249300"/>
            <a:ext cx="3581400" cy="41415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buNone/>
            </a:pPr>
            <a:r>
              <a:rPr lang="en-US" sz="1400" b="0" i="0" u="none" noProof="1">
                <a:solidFill>
                  <a:schemeClr val="tx2"/>
                </a:solidFill>
              </a:rPr>
              <a:t>Результаты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4449C-5303-D6AC-1283-771188148CC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lIns="0">
            <a:normAutofit/>
          </a:bodyPr>
          <a:lstStyle/>
          <a:p>
            <a:pPr>
              <a:buNone/>
            </a:pPr>
            <a:r>
              <a:rPr lang="en-US" b="1" i="0" u="none" noProof="1"/>
              <a:t>Демонстрация и итоги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E918D-8224-6F7D-AC82-4D8457E4041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9100" y="6400800"/>
            <a:ext cx="2359913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7D807726-B2CC-4AB9-7A78-E17ED8469A38}"/>
              </a:ext>
            </a:extLst>
          </p:cNvPr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8191500" y="593724"/>
            <a:ext cx="3581400" cy="1644968"/>
          </a:xfrm>
        </p:spPr>
        <p:txBody>
          <a:bodyPr lIns="0" anchor="t">
            <a:normAutofit/>
          </a:bodyPr>
          <a:lstStyle/>
          <a:p>
            <a:pPr marL="11111" indent="0">
              <a:lnSpc>
                <a:spcPct val="114000"/>
              </a:lnSpc>
              <a:buNone/>
            </a:pPr>
            <a:r>
              <a:rPr lang="en-US" sz="1400" b="0" i="0" u="none" noProof="1"/>
              <a:t>Скриншот интерфейса Telegram-бота с главным меню: разделы «Конспекты», «Тесты» и «Предметы».</a:t>
            </a:r>
          </a:p>
        </p:txBody>
      </p:sp>
      <p:sp>
        <p:nvSpPr>
          <p:cNvPr id="29" name="Content Placeholder 14">
            <a:extLst>
              <a:ext uri="{FF2B5EF4-FFF2-40B4-BE49-F238E27FC236}">
                <a16:creationId xmlns:a16="http://schemas.microsoft.com/office/drawing/2014/main" id="{CB954695-2BEB-2910-2FB0-F745099B573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91500" y="2798762"/>
            <a:ext cx="3581400" cy="164496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1" indent="0">
              <a:lnSpc>
                <a:spcPct val="114000"/>
              </a:lnSpc>
              <a:buNone/>
            </a:pPr>
            <a:r>
              <a:rPr lang="en-US" sz="1400" b="0" i="0" u="none" noProof="1"/>
              <a:t>Скриншот прохождения теста в чате Telegram: мгновенная проверка ответов и отображение результата.</a:t>
            </a:r>
          </a:p>
        </p:txBody>
      </p:sp>
      <p:sp>
        <p:nvSpPr>
          <p:cNvPr id="30" name="Content Placeholder 15">
            <a:extLst>
              <a:ext uri="{FF2B5EF4-FFF2-40B4-BE49-F238E27FC236}">
                <a16:creationId xmlns:a16="http://schemas.microsoft.com/office/drawing/2014/main" id="{CAA68E8B-D5EF-09C7-D44C-BAB0F544BE5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191500" y="4984432"/>
            <a:ext cx="3581400" cy="1644968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1" indent="0">
              <a:lnSpc>
                <a:spcPct val="114000"/>
              </a:lnSpc>
              <a:buNone/>
            </a:pPr>
            <a:r>
              <a:rPr lang="en-US" sz="1400" b="0" i="0" u="none" noProof="1"/>
              <a:t>Скриншот веб-админ-панели на Flask для управления предметами, вопросами и запуска ИИ-генерации.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6159F9D5-47CE-BE89-318F-6AC65817A47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191500" y="228600"/>
            <a:ext cx="3581400" cy="36512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i="0" u="none" noProof="1">
                <a:solidFill>
                  <a:srgbClr val="911C2D"/>
                </a:solidFill>
                <a:latin typeface="+mj-lt"/>
              </a:rPr>
              <a:t>Главное меню Telegram-бота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025B526-3BE1-ECF0-F30D-E28CD95309D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191500" y="2423160"/>
            <a:ext cx="3581400" cy="36512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i="0" u="none" noProof="1">
                <a:solidFill>
                  <a:srgbClr val="911C2D"/>
                </a:solidFill>
                <a:latin typeface="+mj-lt"/>
              </a:rPr>
              <a:t>Прохождение теста в Telegram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C9C43B36-61D1-2237-668A-85A0D836FDEA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8191500" y="4617720"/>
            <a:ext cx="3581400" cy="36671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marL="29685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28635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5824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543012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01789" indent="-285744" algn="l" defTabSz="914354" rtl="0" eaLnBrk="1" latinLnBrk="0" hangingPunct="1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b="1" i="0" u="none" noProof="1">
                <a:solidFill>
                  <a:srgbClr val="911C2D"/>
                </a:solidFill>
                <a:latin typeface="+mj-lt"/>
              </a:rPr>
              <a:t>Админ-панель на Flask</a:t>
            </a:r>
          </a:p>
        </p:txBody>
      </p:sp>
      <p:sp>
        <p:nvSpPr>
          <p:cNvPr id="34" name="Text Box 1"/>
          <p:cNvSpPr txBox="1"/>
          <p:nvPr/>
        </p:nvSpPr>
        <p:spPr>
          <a:xfrm>
            <a:off x="419100" y="2921000"/>
            <a:ext cx="3581400" cy="16510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None/>
            </a:pPr>
            <a:r>
              <a:rPr lang="ru-RU" sz="1400" b="1" i="0" u="none">
                <a:solidFill>
                  <a:schemeClr val="dk1"/>
                </a:solidFill>
                <a:latin typeface="+mn-lt"/>
              </a:rPr>
              <a:t>Итоги</a:t>
            </a:r>
          </a:p>
          <a:p>
            <a:pPr marL="228600" indent="-228600">
              <a:buChar char="•"/>
            </a:pPr>
            <a:r>
              <a:rPr lang="ru-RU" sz="1400" b="0" i="0" u="none">
                <a:solidFill>
                  <a:schemeClr val="dk1"/>
                </a:solidFill>
                <a:latin typeface="+mn-lt"/>
              </a:rPr>
              <a:t>MVP реализован и работает</a:t>
            </a:r>
          </a:p>
          <a:p>
            <a:pPr marL="228600" indent="-228600">
              <a:buChar char="•"/>
            </a:pPr>
            <a:r>
              <a:rPr lang="ru-RU" sz="1400" b="0" i="0" u="none">
                <a:solidFill>
                  <a:schemeClr val="dk1"/>
                </a:solidFill>
                <a:latin typeface="+mn-lt"/>
              </a:rPr>
              <a:t>ИИ-генерация контента функционирует</a:t>
            </a:r>
          </a:p>
          <a:p>
            <a:pPr marL="228600" indent="-228600">
              <a:buChar char="•"/>
            </a:pPr>
            <a:r>
              <a:rPr lang="ru-RU" sz="1400" b="0" i="0" u="none">
                <a:solidFill>
                  <a:schemeClr val="dk1"/>
                </a:solidFill>
                <a:latin typeface="+mn-lt"/>
              </a:rPr>
              <a:t>Telegram-бот и админ-панель работают исправно</a:t>
            </a:r>
          </a:p>
        </p:txBody>
      </p:sp>
      <p:sp>
        <p:nvSpPr>
          <p:cNvPr id="35" name="Text Box 2"/>
          <p:cNvSpPr txBox="1"/>
          <p:nvPr/>
        </p:nvSpPr>
        <p:spPr>
          <a:xfrm>
            <a:off x="419099" y="4572000"/>
            <a:ext cx="3581400" cy="6096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None/>
            </a:pPr>
            <a:r>
              <a:rPr lang="ru-RU" sz="1400" b="1" i="0" u="none" dirty="0" err="1">
                <a:solidFill>
                  <a:srgbClr val="911C2D"/>
                </a:solidFill>
                <a:latin typeface="+mn-lt"/>
              </a:rPr>
              <a:t>GitHub</a:t>
            </a:r>
            <a:r>
              <a:rPr lang="ru-RU" sz="1400" b="1" i="0" u="none" dirty="0">
                <a:solidFill>
                  <a:srgbClr val="911C2D"/>
                </a:solidFill>
                <a:latin typeface="+mn-lt"/>
              </a:rPr>
              <a:t>:</a:t>
            </a:r>
            <a:r>
              <a:rPr lang="ru-RU" sz="1400" b="0" i="0" u="none" dirty="0">
                <a:solidFill>
                  <a:srgbClr val="911C2D"/>
                </a:solidFill>
                <a:latin typeface="+mn-lt"/>
              </a:rPr>
              <a:t> </a:t>
            </a:r>
            <a:r>
              <a:rPr lang="en-US" sz="1400" b="0" i="0" u="none" dirty="0">
                <a:solidFill>
                  <a:srgbClr val="911C2D"/>
                </a:solidFill>
                <a:latin typeface="+mn-lt"/>
              </a:rPr>
              <a:t>https://github.com/b4m59gkfpr-arch/Education_tg_bot</a:t>
            </a:r>
            <a:endParaRPr lang="ru-RU" sz="1400" b="0" i="0" u="none" dirty="0">
              <a:solidFill>
                <a:srgbClr val="911C2D"/>
              </a:solidFill>
              <a:latin typeface="+mn-lt"/>
            </a:endParaRPr>
          </a:p>
        </p:txBody>
      </p:sp>
      <p:sp>
        <p:nvSpPr>
          <p:cNvPr id="36" name="roundrectangle 1"/>
          <p:cNvSpPr/>
          <p:nvPr/>
        </p:nvSpPr>
        <p:spPr>
          <a:xfrm>
            <a:off x="419100" y="5283200"/>
            <a:ext cx="91440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Text Box 3"/>
          <p:cNvSpPr txBox="1"/>
          <p:nvPr/>
        </p:nvSpPr>
        <p:spPr>
          <a:xfrm>
            <a:off x="419100" y="5588000"/>
            <a:ext cx="914400" cy="30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ru-RU" sz="1100" b="0" i="0" u="none" dirty="0">
                <a:solidFill>
                  <a:schemeClr val="accent1"/>
                </a:solidFill>
                <a:latin typeface="+mn-lt"/>
              </a:rPr>
              <a:t>QR-код</a:t>
            </a:r>
          </a:p>
        </p:txBody>
      </p:sp>
      <p:sp>
        <p:nvSpPr>
          <p:cNvPr id="38" name="Text Box 4"/>
          <p:cNvSpPr txBox="1"/>
          <p:nvPr/>
        </p:nvSpPr>
        <p:spPr>
          <a:xfrm>
            <a:off x="1460500" y="5435600"/>
            <a:ext cx="2540000" cy="6096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buNone/>
            </a:pPr>
            <a:r>
              <a:rPr lang="ru-RU" sz="1200" b="0" i="0" u="none" dirty="0">
                <a:solidFill>
                  <a:schemeClr val="dk2"/>
                </a:solidFill>
                <a:latin typeface="+mn-lt"/>
              </a:rPr>
              <a:t>Отсканируйте, чтобы открыть репозиторий проекта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37A46D-627F-6FAA-D1CF-1D2F48B029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62280" y="5326380"/>
            <a:ext cx="820420" cy="820420"/>
          </a:xfrm>
          <a:prstGeom prst="rect">
            <a:avLst/>
          </a:prstGeom>
          <a:solidFill>
            <a:srgbClr val="EAF2FF"/>
          </a:solidFill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23D5C2-2752-51F4-1F26-B297F1EE2F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215" y="4801573"/>
            <a:ext cx="3440252" cy="1887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FCBB57-EF4A-7746-997D-FA5622EA0A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215" y="2605723"/>
            <a:ext cx="3440252" cy="2011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8F591-4881-1CE2-6267-30D6632FD38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215" y="169337"/>
            <a:ext cx="3440252" cy="2069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6942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HEME" val="background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title"/>
  <p:tag name="PLUS_THEME" val="font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ate"/>
  <p:tag name="PLUS_THEME" val="font_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con_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b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logo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heme/theme1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lus Default 2025">
  <a:themeElements>
    <a:clrScheme name="Plus Default">
      <a:dk1>
        <a:srgbClr val="201C20"/>
      </a:dk1>
      <a:lt1>
        <a:srgbClr val="FFFFFF"/>
      </a:lt1>
      <a:dk2>
        <a:srgbClr val="818198"/>
      </a:dk2>
      <a:lt2>
        <a:srgbClr val="F9F9FA"/>
      </a:lt2>
      <a:accent1>
        <a:srgbClr val="4340FF"/>
      </a:accent1>
      <a:accent2>
        <a:srgbClr val="201CB6"/>
      </a:accent2>
      <a:accent3>
        <a:srgbClr val="6E81FF"/>
      </a:accent3>
      <a:accent4>
        <a:srgbClr val="BDCFFE"/>
      </a:accent4>
      <a:accent5>
        <a:srgbClr val="EAF2FF"/>
      </a:accent5>
      <a:accent6>
        <a:srgbClr val="141253"/>
      </a:accent6>
      <a:hlink>
        <a:srgbClr val="4340FF"/>
      </a:hlink>
      <a:folHlink>
        <a:srgbClr val="434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D259D5-7B5F-4853-9AE5-741B3B96A369}">
  <we:reference id="wa200007130" version="1.0.0.1" store="ru-RU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707</Words>
  <Application>Microsoft Office PowerPoint</Application>
  <PresentationFormat>Широкоэкранный</PresentationFormat>
  <Paragraphs>100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Franklin Gothic Book</vt:lpstr>
      <vt:lpstr>Plus Default 2025</vt:lpstr>
      <vt:lpstr>Plus Default 2025</vt:lpstr>
      <vt:lpstr>StudyBot AI</vt:lpstr>
      <vt:lpstr>Проблема и целевая аудитория</vt:lpstr>
      <vt:lpstr>Решение и функции (MVP)</vt:lpstr>
      <vt:lpstr>Разработчики</vt:lpstr>
      <vt:lpstr>Тестировщик</vt:lpstr>
      <vt:lpstr>Технологический стек и архитектура</vt:lpstr>
      <vt:lpstr>Демонстрация и 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 ‎ ‏‏‎‎ ‏‏‎‎ ‏‏‎‎ ‏‏‎‎ ‏‏‎‎ ‏‏‎‎ ‏‏‎‎ ‏‏‎‎ ‏‏‎‎ ‏‏‎‎</dc:creator>
  <cp:lastModifiedBy>Admin ‎ ‏‏‎‎ ‏‏‎‎ ‏‏‎‎ ‏‏‎‎ ‏‏‎‎ ‏‏‎‎ ‏‏‎‎ ‏‏‎‎ ‏‏‎‎ ‏‏‎‎</cp:lastModifiedBy>
  <cp:revision>45</cp:revision>
  <dcterms:created xsi:type="dcterms:W3CDTF">2026-06-04T13:22:29Z</dcterms:created>
  <dcterms:modified xsi:type="dcterms:W3CDTF">2026-06-08T06:00:18Z</dcterms:modified>
</cp:coreProperties>
</file>